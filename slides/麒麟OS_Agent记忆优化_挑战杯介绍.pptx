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6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OS Agent 记忆优化及高效应用研究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</a:defRPr>
            </a:pPr>
            <a:r>
              <a:t>第十九届“挑战杯”全国大学生课外学术科技作品竞赛 · 揭榜挂帅专项赛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91840"/>
            <a:ext cx="2743200" cy="2743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CCDD"/>
                </a:solidFill>
              </a:defRPr>
            </a:pPr>
            <a:r>
              <a:t>发榜单位：麒麟软件有限公司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CCDD"/>
                </a:solidFill>
              </a:defRPr>
            </a:pPr>
            <a:r>
              <a:t>参赛学校：华中科技大学 · 计算机科学与技术学院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CCDD"/>
                </a:solidFill>
              </a:defRPr>
            </a:pPr>
            <a:r>
              <a:t>指导教师：王雄 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</a:defRPr>
            </a:pPr>
            <a:r>
              <a:t>2026年5月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7315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1A1A2E"/>
                </a:solidFill>
              </a:defRPr>
            </a:pPr>
            <a:r>
              <a:t>01   赛题背景与目标</a:t>
            </a:r>
          </a:p>
          <a:p>
            <a:pPr>
              <a:spcAft>
                <a:spcPts val="2000"/>
              </a:spcAft>
              <a:defRPr sz="2400">
                <a:solidFill>
                  <a:srgbClr val="1A1A2E"/>
                </a:solidFill>
              </a:defRPr>
            </a:pPr>
            <a:r>
              <a:t>02   赛题技术要求详解</a:t>
            </a:r>
          </a:p>
          <a:p>
            <a:pPr>
              <a:spcAft>
                <a:spcPts val="2000"/>
              </a:spcAft>
              <a:defRPr sz="2400">
                <a:solidFill>
                  <a:srgbClr val="1A1A2E"/>
                </a:solidFill>
              </a:defRPr>
            </a:pPr>
            <a:r>
              <a:t>03   评审标准与获奖策略</a:t>
            </a:r>
          </a:p>
          <a:p>
            <a:pPr>
              <a:spcAft>
                <a:spcPts val="2000"/>
              </a:spcAft>
              <a:defRPr sz="2400">
                <a:solidFill>
                  <a:srgbClr val="1A1A2E"/>
                </a:solidFill>
              </a:defRPr>
            </a:pPr>
            <a:r>
              <a:t>04   整体技术方案</a:t>
            </a:r>
          </a:p>
          <a:p>
            <a:pPr>
              <a:spcAft>
                <a:spcPts val="2000"/>
              </a:spcAft>
              <a:defRPr sz="2400">
                <a:solidFill>
                  <a:srgbClr val="1A1A2E"/>
                </a:solidFill>
              </a:defRPr>
            </a:pPr>
            <a:r>
              <a:t>05   核心技术路线</a:t>
            </a:r>
          </a:p>
          <a:p>
            <a:pPr>
              <a:spcAft>
                <a:spcPts val="2000"/>
              </a:spcAft>
              <a:defRPr sz="2400">
                <a:solidFill>
                  <a:srgbClr val="1A1A2E"/>
                </a:solidFill>
              </a:defRPr>
            </a:pPr>
            <a:r>
              <a:t>06   团队分工</a:t>
            </a:r>
          </a:p>
          <a:p>
            <a:pPr>
              <a:spcAft>
                <a:spcPts val="2000"/>
              </a:spcAft>
              <a:defRPr sz="2400">
                <a:solidFill>
                  <a:srgbClr val="1A1A2E"/>
                </a:solidFill>
              </a:defRPr>
            </a:pPr>
            <a:r>
              <a:t>07   时间规划与里程碑</a:t>
            </a:r>
          </a:p>
          <a:p>
            <a:pPr>
              <a:spcAft>
                <a:spcPts val="2000"/>
              </a:spcAft>
              <a:defRPr sz="2400">
                <a:solidFill>
                  <a:srgbClr val="1A1A2E"/>
                </a:solidFill>
              </a:defRPr>
            </a:pPr>
            <a:r>
              <a:t>08   预期成果与创新亮点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7315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01  赛题背景与目标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</a:defRPr>
            </a:pPr>
            <a:r>
              <a:t>麒麟OS x AI Agent x 记忆系统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6A0"/>
                </a:solidFill>
              </a:defRPr>
            </a:pPr>
            <a:r>
              <a:t>为什么这个赛题重要？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&gt;&gt; 大模型 Agent 的核心瓶颈：记忆能力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   Agent 能做任务，但记不住用户习惯、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   记不住历史经验--缺乏持续学习能力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&gt;&gt; 国产OS自主可控的战略需求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   麒麟OS是国产操作系统龙头，Agent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   记忆优化直接提升桌面智能体验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&gt;&gt; 端侧智能的工程挑战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   本地部署（无云端大模型）+ &lt;=500ms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   检索延迟--精度与速度的极致平衡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6A0"/>
                </a:solidFill>
              </a:defRPr>
            </a:pPr>
            <a:r>
              <a:t>[目标] 赛题核心目标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</a:defRPr>
            </a:pPr>
            <a:r>
              <a:t>面向麒麟OS环境的AI Agent，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</a:defRPr>
            </a:pPr>
            <a:r>
              <a:t>研究并实现记忆的：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</a:defRPr>
            </a:pPr>
            <a:r>
              <a:t>   1. 多源数据整合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</a:defRPr>
            </a:pPr>
            <a:r>
              <a:t>   2. 偏好记忆动态捕捉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</a:defRPr>
            </a:pPr>
            <a:r>
              <a:t>   3. 知识记忆结构化整合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</a:defRPr>
            </a:pPr>
            <a:r>
              <a:t>   4. 端侧轻量化存储与检索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</a:defRPr>
            </a:pPr>
            <a:r>
              <a:t>   5. 安全与精准遗忘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</a:defRPr>
            </a:pPr>
            <a:r>
              <a:t>   6. 记忆流转（短/中/长期）</a:t>
            </a:r>
          </a:p>
          <a:p>
            <a:pPr>
              <a:spcAft>
                <a:spcPts val="200"/>
              </a:spcAft>
              <a:defRPr sz="1400">
                <a:solidFill>
                  <a:srgbClr val="1A1A2E"/>
                </a:solidFill>
              </a:defRPr>
            </a:pPr>
            <a:r>
              <a:t>   7. 量化评测体系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8500"/>
                </a:solidFill>
              </a:defRPr>
            </a:pPr>
            <a:r>
              <a:t>[时间] 2026年5月 - 9月15日提交</a:t>
            </a:r>
            <a:br/>
            <a:r>
              <a:t>[目标] 特等奖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7315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02  七项技术要求详解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</a:defRPr>
            </a:pPr>
            <a:r>
              <a:t>从数据入口到评估闭环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265176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56032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R1  多源数据整合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65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工具执行结果</a:t>
            </a:r>
            <a:br/>
            <a:r>
              <a:t>用户行为数据</a:t>
            </a:r>
            <a:br/>
            <a:r>
              <a:t>手动配置信息</a:t>
            </a:r>
            <a:br/>
            <a:r>
              <a:t>-&gt; 清洗/标准化/校验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371600"/>
            <a:ext cx="265176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79" y="1417320"/>
            <a:ext cx="2560320" cy="4572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6A0"/>
                </a:solidFill>
              </a:defRPr>
            </a:pPr>
            <a:r>
              <a:t>R2  偏好记忆动态捕捉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自动提取操作习惯</a:t>
            </a:r>
            <a:br/>
            <a:r>
              <a:t>输出风格/安全策略</a:t>
            </a:r>
            <a:br/>
            <a:r>
              <a:t>版本化管理</a:t>
            </a:r>
            <a:br/>
            <a:r>
              <a:t>跨场景适配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371600"/>
            <a:ext cx="265176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417320"/>
            <a:ext cx="256032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</a:defRPr>
            </a:pPr>
            <a:r>
              <a:t>R3  知识记忆结构化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965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工作流程知识</a:t>
            </a:r>
            <a:br/>
            <a:r>
              <a:t>历史案例/可复用模板</a:t>
            </a:r>
            <a:br/>
            <a:r>
              <a:t>冲突消解</a:t>
            </a:r>
            <a:br/>
            <a:r>
              <a:t>关联检索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71600"/>
            <a:ext cx="265176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417320"/>
            <a:ext cx="2560320" cy="45720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500"/>
                </a:solidFill>
              </a:defRPr>
            </a:pPr>
            <a:r>
              <a:t>R4  端侧适配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9659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调用麒麟embedding SDK</a:t>
            </a:r>
            <a:br/>
            <a:r>
              <a:t>检索响应 &lt;= 500ms</a:t>
            </a:r>
            <a:br/>
            <a:r>
              <a:t>轻量化存储</a:t>
            </a:r>
            <a:br/>
            <a:r>
              <a:t>精度-速度平衡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40480"/>
            <a:ext cx="265176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86200"/>
            <a:ext cx="256032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R5  安全与遗忘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4348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敏感信息识别过滤</a:t>
            </a:r>
            <a:br/>
            <a:r>
              <a:t>NL指令驱动的精准遗忘</a:t>
            </a:r>
            <a:br/>
            <a:r>
              <a:t>数据隐私保护</a:t>
            </a:r>
            <a:br/>
            <a:r>
              <a:t>删除粒度控制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3840480"/>
            <a:ext cx="265176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54679" y="3886200"/>
            <a:ext cx="256032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</a:defRPr>
            </a:pPr>
            <a:r>
              <a:t>R6  记忆流转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4348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短期-&gt;中期-&gt;长期</a:t>
            </a:r>
            <a:br/>
            <a:r>
              <a:t>三层次数据兼容</a:t>
            </a:r>
            <a:br/>
            <a:r>
              <a:t>接口设计标准化</a:t>
            </a:r>
            <a:br/>
            <a:r>
              <a:t>数据格式约定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840480"/>
            <a:ext cx="265176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3886200"/>
            <a:ext cx="256032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7D8B"/>
                </a:solidFill>
              </a:defRPr>
            </a:pPr>
            <a:r>
              <a:t>R7  量化评测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4348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标准化测试数据集</a:t>
            </a:r>
            <a:br/>
            <a:r>
              <a:t>多维度指标验证</a:t>
            </a:r>
            <a:br/>
            <a:r>
              <a:t>完整测试报告</a:t>
            </a:r>
            <a:br/>
            <a:r>
              <a:t>基线对比分析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7315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03  评审标准与获奖策略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</a:defRPr>
            </a:pPr>
            <a:r>
              <a:t>初评100分 + 擂台赛100分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3657600"/>
          </a:xfrm>
          <a:prstGeom prst="round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6A0"/>
                </a:solidFill>
              </a:defRPr>
            </a:pPr>
            <a:r>
              <a:t>[初评] 评分体系（100分）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技术创新性       30分  &lt;&lt; 胜负手！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方案可行性       30分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性能指标         25分  硬门槛（&lt;=500ms等）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实用性           10分  与OS Agent产品适配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文档规范性        5分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-------------------------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策略：技术创新性 + 可行性 = 60分 = 决胜区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性能指标必须全达标，否则直接出局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36576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[擂台赛] 评分体系（100分）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功能实现完整性   60分  核心分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设计新颖性       10分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应用价值         10分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表述能力         20分  答辩表现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-------------------------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复评新增设计新颖性和表达能力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答辩准备非常重要--练好presentation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097280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&gt;&gt;&gt; 获奖策略：以技术创新性（30分）为突破口，引入大模型驱动的偏好推理 + 增量式知识图谱构建，形成差异化方案。性能指标作为底线，必须拿满25分。擂台赛重点打磨演示效果和答辩表述。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7315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04  整体技术方案架构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</a:defRPr>
            </a:pPr>
            <a:r>
              <a:t>四层记忆系统 + Agent 主循环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00400" cy="731520"/>
          </a:xfrm>
          <a:prstGeom prst="roundRect">
            <a:avLst/>
          </a:prstGeom>
          <a:solidFill>
            <a:srgbClr val="D6EBF5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工具调用结果 | 用户行为 | 手动配置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数据输入源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56A0"/>
                </a:solidFill>
              </a:defRPr>
            </a:pPr>
            <a:r>
              <a:t>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3200400" cy="640080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F0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R1  多源数据整合 (ETL Pipeline)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清洗 -&gt; 格式标准化 -&gt; 质量校验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08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56A0"/>
                </a:solidFill>
              </a:defRPr>
            </a:pPr>
            <a: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554480" cy="1645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R2 偏好记忆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1A1A2E"/>
                </a:solidFill>
              </a:defRPr>
            </a:pPr>
            <a:r>
              <a:t>* 操作习惯提取</a:t>
            </a:r>
          </a:p>
          <a:p>
            <a:pPr>
              <a:spcAft>
                <a:spcPts val="100"/>
              </a:spcAft>
              <a:defRPr sz="1000">
                <a:solidFill>
                  <a:srgbClr val="1A1A2E"/>
                </a:solidFill>
              </a:defRPr>
            </a:pPr>
            <a:r>
              <a:t>* 输出风格学习</a:t>
            </a:r>
          </a:p>
          <a:p>
            <a:pPr>
              <a:spcAft>
                <a:spcPts val="100"/>
              </a:spcAft>
              <a:defRPr sz="1000">
                <a:solidFill>
                  <a:srgbClr val="1A1A2E"/>
                </a:solidFill>
              </a:defRPr>
            </a:pPr>
            <a:r>
              <a:t>* 安全策略记忆</a:t>
            </a:r>
          </a:p>
          <a:p>
            <a:pPr>
              <a:spcAft>
                <a:spcPts val="100"/>
              </a:spcAft>
              <a:defRPr sz="1000">
                <a:solidFill>
                  <a:srgbClr val="1A1A2E"/>
                </a:solidFill>
              </a:defRPr>
            </a:pPr>
            <a:r>
              <a:t>* 版本化管理</a:t>
            </a:r>
          </a:p>
          <a:p>
            <a:pPr>
              <a:spcAft>
                <a:spcPts val="100"/>
              </a:spcAft>
              <a:defRPr sz="1000">
                <a:solidFill>
                  <a:srgbClr val="1A1A2E"/>
                </a:solidFill>
              </a:defRPr>
            </a:pPr>
            <a:r>
              <a:t>* 跨场景适配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3474720"/>
            <a:ext cx="1554480" cy="1645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3520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</a:defRPr>
            </a:pPr>
            <a:r>
              <a:t>R3 知识记忆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8404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1A1A2E"/>
                </a:solidFill>
              </a:defRPr>
            </a:pPr>
            <a:r>
              <a:t>* 工作流模板</a:t>
            </a:r>
          </a:p>
          <a:p>
            <a:pPr>
              <a:spcAft>
                <a:spcPts val="100"/>
              </a:spcAft>
              <a:defRPr sz="1000">
                <a:solidFill>
                  <a:srgbClr val="1A1A2E"/>
                </a:solidFill>
              </a:defRPr>
            </a:pPr>
            <a:r>
              <a:t>* 历史案例库</a:t>
            </a:r>
          </a:p>
          <a:p>
            <a:pPr>
              <a:spcAft>
                <a:spcPts val="100"/>
              </a:spcAft>
              <a:defRPr sz="1000">
                <a:solidFill>
                  <a:srgbClr val="1A1A2E"/>
                </a:solidFill>
              </a:defRPr>
            </a:pPr>
            <a:r>
              <a:t>* 知识图谱构建</a:t>
            </a:r>
          </a:p>
          <a:p>
            <a:pPr>
              <a:spcAft>
                <a:spcPts val="100"/>
              </a:spcAft>
              <a:defRPr sz="1000">
                <a:solidFill>
                  <a:srgbClr val="1A1A2E"/>
                </a:solidFill>
              </a:defRPr>
            </a:pPr>
            <a:r>
              <a:t>* 冲突消解</a:t>
            </a:r>
          </a:p>
          <a:p>
            <a:pPr>
              <a:spcAft>
                <a:spcPts val="100"/>
              </a:spcAft>
              <a:defRPr sz="1000">
                <a:solidFill>
                  <a:srgbClr val="1A1A2E"/>
                </a:solidFill>
              </a:defRPr>
            </a:pPr>
            <a:r>
              <a:t>* 关联语义检索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20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56A0"/>
                </a:solidFill>
              </a:defRPr>
            </a:pPr>
            <a:r>
              <a:t>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3200400" cy="640080"/>
          </a:xfrm>
          <a:prstGeom prst="roundRect">
            <a:avLst/>
          </a:prstGeom>
          <a:solidFill>
            <a:srgbClr val="D6EBF5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R4 存储 &amp; R6 记忆流转    &lt;=500ms | 麒麟Embedding SDK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1371600"/>
            <a:ext cx="3200400" cy="137160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14630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R5  安全与遗忘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8288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</a:defRPr>
            </a:pPr>
            <a:r>
              <a:t>* 敏感信息识别与过滤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</a:defRPr>
            </a:pPr>
            <a:r>
              <a:t>* NL指令驱动的精准遗忘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</a:defRPr>
            </a:pPr>
            <a:r>
              <a:t>* 隐私保护机制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017520"/>
            <a:ext cx="3200400" cy="11887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108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R7  量化评测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</a:defRPr>
            </a:pPr>
            <a:r>
              <a:t>* 标准化测试数据集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</a:defRPr>
            </a:pPr>
            <a:r>
              <a:t>* 准确率/召回率/延迟指标</a:t>
            </a:r>
          </a:p>
          <a:p>
            <a:pPr>
              <a:spcAft>
                <a:spcPts val="200"/>
              </a:spcAft>
              <a:defRPr sz="1200">
                <a:solidFill>
                  <a:srgbClr val="1A1A2E"/>
                </a:solidFill>
              </a:defRPr>
            </a:pPr>
            <a:r>
              <a:t>* 完整测试报告输出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4572000"/>
            <a:ext cx="6858000" cy="16459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6634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6A0"/>
                </a:solidFill>
              </a:defRPr>
            </a:pPr>
            <a:r>
              <a:t>[核心] 方案核心创新点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02920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1. LLM驱动的偏好推理引擎 -- 超越规则系统，自动发现隐式用户偏好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2. 增量式知识图谱构建 -- 融合HippoRAG + MemGPT的分层记忆架构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3. 时序遗忘曲线驱动的记忆管理 -- 借鉴MemoryBank艾宾浩斯遗忘曲线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4. 轻量级端侧部署 -- 基于量化embedding + 高效索引实现&lt;=500ms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7315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05  核心技术路线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</a:defRPr>
            </a:pPr>
            <a:r>
              <a:t>关键技术选型与对标论文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274320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651760" cy="4572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6A0"/>
                </a:solidFill>
              </a:defRPr>
            </a:pPr>
            <a:r>
              <a:t>MemGPT (NeurIPS 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20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分层内存架构</a:t>
            </a:r>
            <a:br/>
            <a:r>
              <a:t>主存+外存分离</a:t>
            </a:r>
            <a:br/>
            <a:r>
              <a:t>OS风格虚拟内存管理</a:t>
            </a:r>
            <a:br/>
            <a:r>
              <a:t>-&gt; 短期/中期/长期记忆框架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71600"/>
            <a:ext cx="274320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1417320"/>
            <a:ext cx="265176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</a:defRPr>
            </a:pPr>
            <a:r>
              <a:t>HippoRAG (NeurIPS 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1920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知识图谱+Personalized PageRank</a:t>
            </a:r>
            <a:br/>
            <a:r>
              <a:t>离线KG索引+在线检索</a:t>
            </a:r>
            <a:br/>
            <a:r>
              <a:t>-&gt; 关联检索(要求3)对标方案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74320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265176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</a:defRPr>
            </a:pPr>
            <a:r>
              <a:t>MemoryBank (AAAI 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20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艾宾浩斯遗忘曲线驱动</a:t>
            </a:r>
            <a:br/>
            <a:r>
              <a:t>高频强化/低频衰减</a:t>
            </a:r>
            <a:br/>
            <a:r>
              <a:t>-&gt; 偏好记忆动态捕捉(要求2)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371600"/>
            <a:ext cx="274320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417320"/>
            <a:ext cx="2651760" cy="45720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8500"/>
                </a:solidFill>
              </a:defRPr>
            </a:pPr>
            <a:r>
              <a:t>AWM (ICLR 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920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Agent工作流记忆模板</a:t>
            </a:r>
            <a:br/>
            <a:r>
              <a:t>从历史经验归纳复用</a:t>
            </a:r>
            <a:br/>
            <a:r>
              <a:t>-&gt; 知识记忆结构化(要求3)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6A0"/>
                </a:solidFill>
              </a:defRPr>
            </a:pPr>
            <a:r>
              <a:t>数据处理流程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114800"/>
            <a:ext cx="173736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6A0"/>
                </a:solidFill>
              </a:defRPr>
            </a:pPr>
            <a:r>
              <a:t>工具调用</a:t>
            </a:r>
            <a:br/>
            <a:r>
              <a:t>结果采集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-&gt;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40279" y="4114800"/>
            <a:ext cx="173736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79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</a:defRPr>
            </a:pPr>
            <a:r>
              <a:t>数据清洗</a:t>
            </a:r>
            <a:br/>
            <a:r>
              <a:t>结构化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4114800"/>
            <a:ext cx="173736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0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8500"/>
                </a:solidFill>
              </a:defRPr>
            </a:pPr>
            <a:r>
              <a:t>LLM分析</a:t>
            </a:r>
            <a:br/>
            <a:r>
              <a:t>偏好/知识提取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79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-&gt;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199" y="4114800"/>
            <a:ext cx="173736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199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E44AD"/>
                </a:solidFill>
              </a:defRPr>
            </a:pPr>
            <a:r>
              <a:t>向量化存储</a:t>
            </a:r>
            <a:br/>
            <a:r>
              <a:t>麒麟Embedding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-&gt;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114800"/>
            <a:ext cx="173736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检索服务</a:t>
            </a:r>
            <a:br/>
            <a:r>
              <a:t>&lt;500ms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-&gt;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4114800"/>
            <a:ext cx="1737360" cy="822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04120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D6B"/>
                </a:solidFill>
              </a:defRPr>
            </a:pPr>
            <a:r>
              <a:t>Agent决策</a:t>
            </a:r>
            <a:br/>
            <a:r>
              <a:t>调用记忆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6A0"/>
                </a:solidFill>
              </a:defRPr>
            </a:pPr>
            <a:r>
              <a:t>关键性能指标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669280"/>
            <a:ext cx="25603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偏好提取</a:t>
            </a:r>
            <a:br/>
            <a:r>
              <a:t>准确率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989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&gt;=85%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46120" y="5669280"/>
            <a:ext cx="25603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7560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知识检索</a:t>
            </a:r>
            <a:br/>
            <a:r>
              <a:t>召回率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5989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&gt;=85%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669280"/>
            <a:ext cx="25603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检索响应</a:t>
            </a:r>
            <a:br/>
            <a:r>
              <a:t>延迟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5989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8500"/>
                </a:solidFill>
              </a:defRPr>
            </a:pPr>
            <a:r>
              <a:t>&lt;=500ms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89720" y="5669280"/>
            <a:ext cx="25603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冲突消解</a:t>
            </a:r>
            <a:br/>
            <a:r>
              <a:t>正确率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5989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&gt;=88%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7315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06  团队分工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</a:defRPr>
            </a:pPr>
            <a:r>
              <a:t>分工明确 / 各司其职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2194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383280" cy="4572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6A0"/>
                </a:solidFill>
              </a:defRPr>
            </a:pPr>
            <a:r>
              <a:t>[队长]  项目负责人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职责：全局统筹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进度管控/架构设计</a:t>
            </a:r>
            <a:br/>
            <a:r>
              <a:t>技术决策/评审答辩</a:t>
            </a:r>
            <a:br/>
            <a:r>
              <a:t>对外联络（麒麟SDK获取）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474720" cy="2194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38328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</a:defRPr>
            </a:pPr>
            <a:r>
              <a:t>[开发]  核心开发-后端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职责：记忆系统实现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94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多源数据整合(ETL)</a:t>
            </a:r>
            <a:br/>
            <a:r>
              <a:t>偏好/知识存储模块</a:t>
            </a:r>
            <a:br/>
            <a:r>
              <a:t>检索接口实现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474720" cy="2194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417320"/>
            <a:ext cx="338328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</a:defRPr>
            </a:pPr>
            <a:r>
              <a:t>[算法]  核心开发-Algo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职责：算法与模型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94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偏好推理引擎</a:t>
            </a:r>
            <a:br/>
            <a:r>
              <a:t>知识图谱构建</a:t>
            </a:r>
            <a:br/>
            <a:r>
              <a:t>遗忘曲线策略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3474720" cy="2194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77639"/>
            <a:ext cx="338328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[安全]  安全模块开发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职责：安全与遗忘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敏感信息识别过滤</a:t>
            </a:r>
            <a:br/>
            <a:r>
              <a:t>NL精准遗忘实现</a:t>
            </a:r>
            <a:br/>
            <a:r>
              <a:t>隐私保护机制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931920"/>
            <a:ext cx="3474720" cy="2194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77639"/>
            <a:ext cx="3383280" cy="45720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500"/>
                </a:solidFill>
              </a:defRPr>
            </a:pPr>
            <a:r>
              <a:t>[评测]  评测与测试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职责：量化评测体系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测试数据集构建</a:t>
            </a:r>
            <a:br/>
            <a:r>
              <a:t>性能基准测试</a:t>
            </a:r>
            <a:br/>
            <a:r>
              <a:t>测试报告撰写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931920"/>
            <a:ext cx="3474720" cy="2194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3977639"/>
            <a:ext cx="338328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7D8B"/>
                </a:solidFill>
              </a:defRPr>
            </a:pPr>
            <a:r>
              <a:t>[文档]  文档与答辩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职责：文档+演示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技术文档/设计报告</a:t>
            </a:r>
            <a:br/>
            <a:r>
              <a:t>演示材料/答辩准备</a:t>
            </a:r>
            <a:br/>
            <a:r>
              <a:t>视频录制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[团队] 共6人 + 指导教师王雄老师  |  建议每周同步2次，每两周里程碑评审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7315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07  时间规划与里程碑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</a:defRPr>
            </a:pPr>
            <a:r>
              <a:t>2026年5月 -&gt; 9月15日提交 -&gt; 11月终审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50876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731520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</a:defRPr>
            </a:pPr>
            <a:r>
              <a:t>5月</a:t>
            </a:r>
            <a:br/>
            <a:r>
              <a:t>下旬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94560"/>
            <a:ext cx="178308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OK  [1] 调研与立项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完成赛题分析</a:t>
            </a:r>
            <a:br/>
            <a:r>
              <a:t>SOTA论文调研</a:t>
            </a:r>
            <a:br/>
            <a:r>
              <a:t>基础设施搭建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417320"/>
            <a:ext cx="150876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1280160"/>
            <a:ext cx="731520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0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8500"/>
                </a:solidFill>
              </a:defRPr>
            </a:pPr>
            <a:r>
              <a:t>6月</a:t>
            </a:r>
            <a:br/>
            <a:r>
              <a:t>上旬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2194560"/>
            <a:ext cx="178308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8500"/>
                </a:solidFill>
              </a:defRPr>
            </a:pPr>
            <a:r>
              <a:t>-&gt;  [2] 方案设计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65176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技术方案评审</a:t>
            </a:r>
            <a:br/>
            <a:r>
              <a:t>架构设计定稿</a:t>
            </a:r>
            <a:br/>
            <a:r>
              <a:t>麒麟SDK对接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417320"/>
            <a:ext cx="150876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79" y="1280160"/>
            <a:ext cx="731520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6-7月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2194560"/>
            <a:ext cx="178308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-&gt;  [3] 核心开发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65176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数据整合模块</a:t>
            </a:r>
            <a:br/>
            <a:r>
              <a:t>偏好记忆模块</a:t>
            </a:r>
            <a:br/>
            <a:r>
              <a:t>知识记忆模块</a:t>
            </a:r>
            <a:br/>
            <a:r>
              <a:t>存储检索模块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399" y="1417320"/>
            <a:ext cx="1508760" cy="36576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39" y="1280160"/>
            <a:ext cx="731520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39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E44AD"/>
                </a:solidFill>
              </a:defRPr>
            </a:pPr>
            <a:r>
              <a:t>8月</a:t>
            </a:r>
            <a:br/>
            <a:r>
              <a:t>上旬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39" y="2194560"/>
            <a:ext cx="178308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79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</a:defRPr>
            </a:pPr>
            <a:r>
              <a:t>-&gt;  [4] 系统集成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265176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模块联调</a:t>
            </a:r>
            <a:br/>
            <a:r>
              <a:t>安全+遗忘模块</a:t>
            </a:r>
            <a:br/>
            <a:r>
              <a:t>记忆流转打通</a:t>
            </a:r>
            <a:br/>
            <a:r>
              <a:t>端侧部署测试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1417320"/>
            <a:ext cx="150876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1280160"/>
            <a:ext cx="731520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88"/>
                </a:solidFill>
              </a:defRPr>
            </a:pPr>
            <a:r>
              <a:t>8月</a:t>
            </a:r>
            <a:br/>
            <a:r>
              <a:t>下旬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194560"/>
            <a:ext cx="178308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</a:defRPr>
            </a:pPr>
            <a:r>
              <a:t>-&gt;  [5] 评测优化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65176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完整性测试</a:t>
            </a:r>
            <a:br/>
            <a:r>
              <a:t>性能调优(&lt;=500ms)</a:t>
            </a:r>
            <a:br/>
            <a:r>
              <a:t>覆盖率补全</a:t>
            </a:r>
            <a:br/>
            <a:r>
              <a:t>基准报告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61320" y="1417320"/>
            <a:ext cx="150876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95560" y="1280160"/>
            <a:ext cx="731520" cy="7315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60" y="1325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6A0"/>
                </a:solidFill>
              </a:defRPr>
            </a:pPr>
            <a:r>
              <a:t>9月</a:t>
            </a:r>
            <a:br/>
            <a:r>
              <a:t>上旬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95560" y="2194560"/>
            <a:ext cx="1783080" cy="3200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22860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6A0"/>
                </a:solidFill>
              </a:defRPr>
            </a:pPr>
            <a:r>
              <a:t>!!  [6] 提交冲刺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265176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文档撰写</a:t>
            </a:r>
            <a:br/>
            <a:r>
              <a:t>演示视频录制</a:t>
            </a:r>
            <a:br/>
            <a:r>
              <a:t>作品打包提交</a:t>
            </a:r>
            <a:br/>
            <a:r>
              <a:t>擂台赛准备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669280"/>
            <a:ext cx="1097280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715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关键节点：5月30日-6月30日报名  |  8月中旬完成核心开发  |  9月15日作品提交截止  |  9月30日前公布入围  |  10月完善  |  11月终审擂台赛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7315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07  详细甘特图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</a:defRPr>
            </a:pPr>
            <a:r>
              <a:t>5月底 / 6月 / 7月 / 8月 / 9月中旬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960120" cy="548640"/>
          </a:xfrm>
          <a:prstGeom prst="roundRect">
            <a:avLst/>
          </a:prstGeom>
          <a:solidFill>
            <a:srgbClr val="D6EBF5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6A0"/>
                </a:solidFill>
              </a:defRPr>
            </a:pPr>
            <a:r>
              <a:t>5月</a:t>
            </a:r>
            <a:br/>
            <a:r>
              <a:t>下旬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71600"/>
            <a:ext cx="960120" cy="548640"/>
          </a:xfrm>
          <a:prstGeom prst="roundRect">
            <a:avLst/>
          </a:prstGeom>
          <a:solidFill>
            <a:srgbClr val="D6EBF5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3716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6A0"/>
                </a:solidFill>
              </a:defRPr>
            </a:pPr>
            <a:r>
              <a:t>6月</a:t>
            </a:r>
            <a:br/>
            <a:r>
              <a:t>上旬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960120" cy="548640"/>
          </a:xfrm>
          <a:prstGeom prst="roundRect">
            <a:avLst/>
          </a:prstGeom>
          <a:solidFill>
            <a:srgbClr val="D6EBF5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3716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6A0"/>
                </a:solidFill>
              </a:defRPr>
            </a:pPr>
            <a:r>
              <a:t>6月</a:t>
            </a:r>
            <a:br/>
            <a:r>
              <a:t>下旬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371600"/>
            <a:ext cx="960120" cy="548640"/>
          </a:xfrm>
          <a:prstGeom prst="roundRect">
            <a:avLst/>
          </a:prstGeom>
          <a:solidFill>
            <a:srgbClr val="D6EBF5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3716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6A0"/>
                </a:solidFill>
              </a:defRPr>
            </a:pPr>
            <a:r>
              <a:t>7月</a:t>
            </a:r>
            <a:br/>
            <a:r>
              <a:t>上旬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371600"/>
            <a:ext cx="960120" cy="548640"/>
          </a:xfrm>
          <a:prstGeom prst="roundRect">
            <a:avLst/>
          </a:prstGeom>
          <a:solidFill>
            <a:srgbClr val="D6EBF5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716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6A0"/>
                </a:solidFill>
              </a:defRPr>
            </a:pPr>
            <a:r>
              <a:t>7月</a:t>
            </a:r>
            <a:br/>
            <a:r>
              <a:t>下旬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371600"/>
            <a:ext cx="960120" cy="548640"/>
          </a:xfrm>
          <a:prstGeom prst="roundRect">
            <a:avLst/>
          </a:prstGeom>
          <a:solidFill>
            <a:srgbClr val="D6EBF5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3716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6A0"/>
                </a:solidFill>
              </a:defRPr>
            </a:pPr>
            <a:r>
              <a:t>8月</a:t>
            </a:r>
            <a:br/>
            <a:r>
              <a:t>上旬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59" y="1371600"/>
            <a:ext cx="960120" cy="548640"/>
          </a:xfrm>
          <a:prstGeom prst="roundRect">
            <a:avLst/>
          </a:prstGeom>
          <a:solidFill>
            <a:srgbClr val="D6EBF5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59" y="13716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6A0"/>
                </a:solidFill>
              </a:defRPr>
            </a:pPr>
            <a:r>
              <a:t>8月</a:t>
            </a:r>
            <a:br/>
            <a:r>
              <a:t>下旬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19" y="1371600"/>
            <a:ext cx="960120" cy="548640"/>
          </a:xfrm>
          <a:prstGeom prst="roundRect">
            <a:avLst/>
          </a:prstGeom>
          <a:solidFill>
            <a:srgbClr val="D6EBF5"/>
          </a:solidFill>
          <a:ln w="19050"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61319" y="13716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56A0"/>
                </a:solidFill>
              </a:defRPr>
            </a:pPr>
            <a:r>
              <a:t>9月</a:t>
            </a:r>
            <a:br/>
            <a:r>
              <a:t>上旬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194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[调研] 调研与方案设计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212848"/>
            <a:ext cx="2103120" cy="274320"/>
          </a:xfrm>
          <a:prstGeom prst="round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5420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[设计] 架构设计与评审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2560320"/>
            <a:ext cx="2103120" cy="274320"/>
          </a:xfrm>
          <a:prstGeom prst="round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895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[开发] R1 多源数据整合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2907792"/>
            <a:ext cx="3154679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36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[开发] R2 偏好记忆模块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3255264"/>
            <a:ext cx="3680459" cy="2743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584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[开发] R3 知识记忆模块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79" y="3602736"/>
            <a:ext cx="3680459" cy="274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931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[开发] R4 存储检索模块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0" y="3950207"/>
            <a:ext cx="420624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2793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[集成] 系统联调集成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4297679"/>
            <a:ext cx="1577339" cy="274320"/>
          </a:xfrm>
          <a:prstGeom prst="round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6268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[安全] R5 安全与遗忘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0" y="4645152"/>
            <a:ext cx="2103120" cy="274320"/>
          </a:xfrm>
          <a:prstGeom prst="round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9743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[评测] R7 评测调优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58200" y="4992623"/>
            <a:ext cx="262890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53218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[文档] 文档&amp;演示材料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58200" y="5340096"/>
            <a:ext cx="2628900" cy="274320"/>
          </a:xfrm>
          <a:prstGeom prst="round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56692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[冲刺] 提交冲刺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61319" y="5687567"/>
            <a:ext cx="105156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** 调研期     ** 设计期     ** 开发期     ** 集成期     ** 评测期     ** 冲刺期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7315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08  预期成果与创新亮点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EE"/>
                </a:solidFill>
              </a:defRPr>
            </a:pPr>
            <a:r>
              <a:t>交付物清单 + 技术亮点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6A0"/>
                </a:solidFill>
              </a:defRPr>
            </a:pPr>
            <a:r>
              <a:t>交付物清单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3035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6A0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完整代码仓库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包含全部7个需求模块的源代码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3035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1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6A0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技术设计文档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架构设计、接口文档、核心算法说明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51760"/>
            <a:ext cx="53035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9747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6A0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97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测试报告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性能指标数据 + 对比基线分析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651760"/>
            <a:ext cx="53035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69747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6A0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使用说明文档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环境搭建、部署步骤、配置指南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53035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2043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6A0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5204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演示视频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7947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功能Demo + 场景演示(5分钟内)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474720"/>
            <a:ext cx="5303520" cy="640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52043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6A0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5204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作品PPT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947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擂台赛答辩用演示文稿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500"/>
                </a:solidFill>
              </a:defRPr>
            </a:pPr>
            <a:r>
              <a:t>技术创新亮点（争夺30分技术创新性）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937760"/>
            <a:ext cx="5303520" cy="5943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0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8500"/>
                </a:solidFill>
              </a:defRPr>
            </a:pPr>
            <a:r>
              <a:t>&gt;&gt;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LLM驱动的偏好推理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57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用大模型分析用户行为序列，自动发现隐式偏好规则，无需手动标注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937760"/>
            <a:ext cx="5303520" cy="5943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0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8500"/>
                </a:solidFill>
              </a:defRPr>
            </a:pPr>
            <a:r>
              <a:t>&gt;&gt;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增量式知识图谱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257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基于HippoRAG框架，在线构建轻量级知识图谱，支持动态更新与冲突消解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669280"/>
            <a:ext cx="5303520" cy="5943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0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15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8500"/>
                </a:solidFill>
              </a:defRPr>
            </a:pPr>
            <a:r>
              <a:t>&gt;&gt;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遗忘曲线记忆管理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989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融合MemoryBank的艾宾浩斯遗忘曲线策略，高频强化、低频衰减，贴合人类记忆规律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5669280"/>
            <a:ext cx="5303520" cy="5943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0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8500"/>
                </a:solidFill>
              </a:defRPr>
            </a:pPr>
            <a:r>
              <a:t>&gt;&gt;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端侧部署优化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989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量化Embedding + 高效索引结构，在本地CPU环境实现&lt;=500ms语义检索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6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91840"/>
            <a:ext cx="2743200" cy="27432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</a:defRPr>
            </a:pPr>
            <a:r>
              <a:t>OS Agent 记忆优化及高效应用研究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CCDD"/>
                </a:solidFill>
              </a:defRPr>
            </a:pPr>
            <a:r>
              <a:t>麒麟软件有限公司 / 华中科技大学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</a:defRPr>
            </a:pPr>
            <a:r>
              <a:t>欢迎各位老师批评指正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</a:defRPr>
            </a:pPr>
            <a:r>
              <a:t>指导教师：王雄 老师  |  华中科技大学 计算机科学与技术学院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